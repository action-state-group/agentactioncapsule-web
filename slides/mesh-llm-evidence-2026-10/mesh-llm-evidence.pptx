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mesh needs no central authority to trust: each node keeps its own receipt and checks the other's.</a:t>
            </a:r>
          </a:p>
          <a:p>
            <a:r>
              <a:t>One: a capsule is a signed record of one action; it holds digests, never the prompt or the answer.</a:t>
            </a:r>
          </a:p>
          <a:p>
            <a:r>
              <a:t>Two: each node keeps a log with checkpoints that is append-only and signed, with no central server.</a:t>
            </a:r>
          </a:p>
          <a:p>
            <a:r>
              <a:t>Three: bilateral means both sides record the same exchange, so any gap or mismatch shows.</a:t>
            </a:r>
          </a:p>
          <a:p>
            <a:r>
              <a:t>Four: if the operator names a witness, it adds an outside timestamp; it shows when, not what.</a:t>
            </a:r>
          </a:p>
          <a:p>
            <a:r>
              <a:t>Five: the third-party report is something anyone can check offline, with no account; for a mesh node's records, that offline check is not yet joined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reputation score anywhere. You get a map of what was checked, and the gaps are named.</a:t>
            </a:r>
          </a:p>
          <a:p>
            <a:r>
              <a:t>Who sent this, and was it changed? A signature shows who signed and that it is unchanged since; it does not show that the content is true.</a:t>
            </a:r>
          </a:p>
          <a:p>
            <a:r>
              <a:t>Was it there at the time? A checkpoint shows it was in the log by time T, in order; it does not show that everything was logged.</a:t>
            </a:r>
          </a:p>
          <a:p>
            <a:r>
              <a:t>Did we both see the same exchange? When both sides match, that shows the same request and answer, cited both ways; it does not show which side is right.</a:t>
            </a:r>
          </a:p>
          <a:p>
            <a:r>
              <a:t>Was the claimed model served? When a second node answers a request the client marked and the two answers differ, a referee neither side picked signs a ruling on that one pair; it does not cover every request, and the referee is off by default today.</a:t>
            </a:r>
          </a:p>
          <a:p>
            <a:r>
              <a:t>What actually ran? Hardware attestation, which comes next, shows a measured runtime; it does not show more than the quote 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57200"/>
            <a:ext cx="16764000" cy="1402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Mesh-LLM Evidence Layer:</a:t>
            </a:r>
            <a:br/>
            <a:r>
              <a:rPr sz="4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Trust between Strangers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35480"/>
            <a:ext cx="16764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What a node says it served, and its history of what it has done (targeting mesh-llm v0.79)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9337358"/>
            <a:ext cx="17049750" cy="4162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“The mesh needs no central authority to trust: each node keeps its own receipt and checks the other's.”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0" y="2621280"/>
            <a:ext cx="8953500" cy="1022985"/>
          </a:xfrm>
          <a:prstGeom prst="roundRect">
            <a:avLst>
              <a:gd name="adj" fmla="val 14897"/>
            </a:avLst>
          </a:prstGeom>
          <a:solidFill>
            <a:srgbClr val="F3F4F6"/>
          </a:solidFill>
          <a:ln w="28575">
            <a:solidFill>
              <a:srgbClr val="9CA3AF"/>
            </a:solidFill>
          </a:ln>
        </p:spPr>
        <p:txBody>
          <a:bodyPr rtlCol="0" anchor="ctr" wrap="square" lIns="914400" tIns="95250" rIns="190500" bIns="952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Capsule:</a:t>
            </a: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a signed record of one action. Digests, never the prompt or answer.</a:t>
            </a:r>
          </a:p>
        </p:txBody>
      </p:sp>
      <p:sp>
        <p:nvSpPr>
          <p:cNvPr id="6" name="Oval 5"/>
          <p:cNvSpPr/>
          <p:nvPr/>
        </p:nvSpPr>
        <p:spPr>
          <a:xfrm>
            <a:off x="8743950" y="2847022"/>
            <a:ext cx="571500" cy="5715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0" y="3987403"/>
            <a:ext cx="8953500" cy="1022985"/>
          </a:xfrm>
          <a:prstGeom prst="roundRect">
            <a:avLst>
              <a:gd name="adj" fmla="val 14897"/>
            </a:avLst>
          </a:prstGeom>
          <a:solidFill>
            <a:srgbClr val="F3F4F6"/>
          </a:solidFill>
          <a:ln w="28575">
            <a:solidFill>
              <a:srgbClr val="9CA3AF"/>
            </a:solidFill>
          </a:ln>
        </p:spPr>
        <p:txBody>
          <a:bodyPr rtlCol="0" anchor="ctr" wrap="square" lIns="914400" tIns="95250" rIns="190500" bIns="952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Log + checkpoint:</a:t>
            </a: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append-only and signed, with no central server.</a:t>
            </a:r>
          </a:p>
        </p:txBody>
      </p:sp>
      <p:sp>
        <p:nvSpPr>
          <p:cNvPr id="8" name="Oval 7"/>
          <p:cNvSpPr/>
          <p:nvPr/>
        </p:nvSpPr>
        <p:spPr>
          <a:xfrm>
            <a:off x="8743950" y="4213146"/>
            <a:ext cx="571500" cy="5715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29700" y="3663315"/>
            <a:ext cx="0" cy="305038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8572500" y="5353526"/>
            <a:ext cx="8953500" cy="1022985"/>
          </a:xfrm>
          <a:prstGeom prst="roundRect">
            <a:avLst>
              <a:gd name="adj" fmla="val 14897"/>
            </a:avLst>
          </a:prstGeom>
          <a:solidFill>
            <a:srgbClr val="F3F4F6"/>
          </a:solidFill>
          <a:ln w="28575">
            <a:solidFill>
              <a:srgbClr val="9CA3AF"/>
            </a:solidFill>
          </a:ln>
        </p:spPr>
        <p:txBody>
          <a:bodyPr rtlCol="0" anchor="ctr" wrap="square" lIns="914400" tIns="95250" rIns="190500" bIns="952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Bilateral:</a:t>
            </a: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both sides record the same exchange, so any gap or mismatch shows.</a:t>
            </a:r>
          </a:p>
        </p:txBody>
      </p:sp>
      <p:sp>
        <p:nvSpPr>
          <p:cNvPr id="11" name="Oval 10"/>
          <p:cNvSpPr/>
          <p:nvPr/>
        </p:nvSpPr>
        <p:spPr>
          <a:xfrm>
            <a:off x="8743950" y="5579269"/>
            <a:ext cx="571500" cy="5715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29700" y="5029438"/>
            <a:ext cx="0" cy="305038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8572500" y="6719649"/>
            <a:ext cx="8953500" cy="1022985"/>
          </a:xfrm>
          <a:prstGeom prst="roundRect">
            <a:avLst>
              <a:gd name="adj" fmla="val 14897"/>
            </a:avLst>
          </a:prstGeom>
          <a:solidFill>
            <a:srgbClr val="F3F4F6"/>
          </a:solidFill>
          <a:ln w="28575">
            <a:solidFill>
              <a:srgbClr val="9CA3AF"/>
            </a:solidFill>
          </a:ln>
        </p:spPr>
        <p:txBody>
          <a:bodyPr rtlCol="0" anchor="ctr" wrap="square" lIns="914400" tIns="95250" rIns="190500" bIns="952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Witness:</a:t>
            </a: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an outside timestamp. It shows when, not what.</a:t>
            </a:r>
          </a:p>
        </p:txBody>
      </p:sp>
      <p:sp>
        <p:nvSpPr>
          <p:cNvPr id="14" name="Oval 13"/>
          <p:cNvSpPr/>
          <p:nvPr/>
        </p:nvSpPr>
        <p:spPr>
          <a:xfrm>
            <a:off x="8743950" y="6945392"/>
            <a:ext cx="571500" cy="5715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29700" y="6395561"/>
            <a:ext cx="0" cy="305038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8572500" y="8085772"/>
            <a:ext cx="8953500" cy="1022985"/>
          </a:xfrm>
          <a:prstGeom prst="roundRect">
            <a:avLst>
              <a:gd name="adj" fmla="val 14897"/>
            </a:avLst>
          </a:prstGeom>
          <a:solidFill>
            <a:srgbClr val="F3F4F6"/>
          </a:solidFill>
          <a:ln w="28575">
            <a:solidFill>
              <a:srgbClr val="9CA3AF"/>
            </a:solidFill>
          </a:ln>
        </p:spPr>
        <p:txBody>
          <a:bodyPr rtlCol="0" anchor="ctr" wrap="square" lIns="914400" tIns="95250" rIns="190500" bIns="952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Third-party report:</a:t>
            </a: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anyone checks it offline, with no account.</a:t>
            </a:r>
          </a:p>
        </p:txBody>
      </p:sp>
      <p:sp>
        <p:nvSpPr>
          <p:cNvPr id="17" name="Oval 16"/>
          <p:cNvSpPr/>
          <p:nvPr/>
        </p:nvSpPr>
        <p:spPr>
          <a:xfrm>
            <a:off x="8743950" y="8311515"/>
            <a:ext cx="571500" cy="5715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29700" y="7761684"/>
            <a:ext cx="0" cy="305038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762000" y="2697480"/>
            <a:ext cx="2190750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8575">
            <a:solidFill>
              <a:srgbClr val="111827"/>
            </a:solidFill>
          </a:ln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Node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0" y="2697480"/>
            <a:ext cx="2190750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8575">
            <a:solidFill>
              <a:srgbClr val="111827"/>
            </a:solidFill>
          </a:ln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Node 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09900" y="2983230"/>
            <a:ext cx="2743200" cy="0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  <p:cxnSp>
        <p:nvCxnSpPr>
          <p:cNvPr id="22" name="Connector 21"/>
          <p:cNvCxnSpPr/>
          <p:nvPr/>
        </p:nvCxnSpPr>
        <p:spPr>
          <a:xfrm flipH="1">
            <a:off x="3009900" y="3326130"/>
            <a:ext cx="2743200" cy="0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  <p:sp>
        <p:nvSpPr>
          <p:cNvPr id="23" name="TextBox 22"/>
          <p:cNvSpPr txBox="1"/>
          <p:nvPr/>
        </p:nvSpPr>
        <p:spPr>
          <a:xfrm>
            <a:off x="2952750" y="2616518"/>
            <a:ext cx="2857500" cy="3286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2750" y="3364230"/>
            <a:ext cx="2857500" cy="3286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57375" y="3649980"/>
            <a:ext cx="0" cy="342900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762000" y="4030980"/>
            <a:ext cx="2190750" cy="2381250"/>
          </a:xfrm>
          <a:prstGeom prst="rect">
            <a:avLst/>
          </a:prstGeom>
          <a:solidFill>
            <a:srgbClr val="F3F4F6"/>
          </a:solidFill>
          <a:ln w="28575">
            <a:solidFill>
              <a:srgbClr val="9CA3AF"/>
            </a:solidFill>
          </a:ln>
        </p:spPr>
        <p:txBody>
          <a:bodyPr rtlCol="0" anchor="t" wrap="square" lIns="0" tIns="7620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A's 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0125" y="4621530"/>
            <a:ext cx="1714500" cy="552450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28575">
            <a:solidFill>
              <a:srgbClr val="1D4ED8"/>
            </a:solidFill>
          </a:ln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capsule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6300" y="5497830"/>
            <a:ext cx="1962150" cy="0"/>
          </a:xfrm>
          <a:prstGeom prst="line">
            <a:avLst/>
          </a:prstGeom>
          <a:ln w="28575">
            <a:solidFill>
              <a:srgbClr val="1D4ED8"/>
            </a:solidFill>
          </a:ln>
        </p:spPr>
      </p:cxnSp>
      <p:sp>
        <p:nvSpPr>
          <p:cNvPr id="29" name="Diamond 28"/>
          <p:cNvSpPr/>
          <p:nvPr/>
        </p:nvSpPr>
        <p:spPr>
          <a:xfrm>
            <a:off x="895350" y="5374005"/>
            <a:ext cx="247650" cy="247650"/>
          </a:xfrm>
          <a:prstGeom prst="diamond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8200" y="5593080"/>
            <a:ext cx="2038350" cy="3286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1D4ED8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05625" y="3649980"/>
            <a:ext cx="0" cy="342900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  <p:sp>
        <p:nvSpPr>
          <p:cNvPr id="32" name="Rectangle 31"/>
          <p:cNvSpPr/>
          <p:nvPr/>
        </p:nvSpPr>
        <p:spPr>
          <a:xfrm>
            <a:off x="5810250" y="4030980"/>
            <a:ext cx="2190750" cy="2381250"/>
          </a:xfrm>
          <a:prstGeom prst="rect">
            <a:avLst/>
          </a:prstGeom>
          <a:solidFill>
            <a:srgbClr val="F3F4F6"/>
          </a:solidFill>
          <a:ln w="28575">
            <a:solidFill>
              <a:srgbClr val="9CA3AF"/>
            </a:solidFill>
          </a:ln>
        </p:spPr>
        <p:txBody>
          <a:bodyPr rtlCol="0" anchor="t" wrap="square" lIns="0" tIns="7620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B's 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48375" y="4621530"/>
            <a:ext cx="1714500" cy="552450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28575">
            <a:solidFill>
              <a:srgbClr val="1D4ED8"/>
            </a:solidFill>
          </a:ln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capsule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24550" y="5497830"/>
            <a:ext cx="1962150" cy="0"/>
          </a:xfrm>
          <a:prstGeom prst="line">
            <a:avLst/>
          </a:prstGeom>
          <a:ln w="28575">
            <a:solidFill>
              <a:srgbClr val="1D4ED8"/>
            </a:solidFill>
          </a:ln>
        </p:spPr>
      </p:cxnSp>
      <p:sp>
        <p:nvSpPr>
          <p:cNvPr id="35" name="Diamond 34"/>
          <p:cNvSpPr/>
          <p:nvPr/>
        </p:nvSpPr>
        <p:spPr>
          <a:xfrm>
            <a:off x="5943600" y="5374005"/>
            <a:ext cx="247650" cy="247650"/>
          </a:xfrm>
          <a:prstGeom prst="diamond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886450" y="5593080"/>
            <a:ext cx="2038350" cy="3286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1D4ED8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71775" y="4897755"/>
            <a:ext cx="3219450" cy="0"/>
          </a:xfrm>
          <a:prstGeom prst="line">
            <a:avLst/>
          </a:prstGeom>
          <a:ln w="28575">
            <a:solidFill>
              <a:srgbClr val="111827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38" name="TextBox 37"/>
          <p:cNvSpPr txBox="1"/>
          <p:nvPr/>
        </p:nvSpPr>
        <p:spPr>
          <a:xfrm>
            <a:off x="2952750" y="4511992"/>
            <a:ext cx="2857500" cy="3286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cites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1375" y="5176838"/>
            <a:ext cx="2000250" cy="984885"/>
          </a:xfrm>
          <a:prstGeom prst="roundRect">
            <a:avLst>
              <a:gd name="adj" fmla="val 15473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dash"/>
          </a:ln>
        </p:spPr>
        <p:txBody>
          <a:bodyPr rtlCol="0" anchor="ctr" wrap="square" lIns="0" tIns="76200" rIns="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witness</a:t>
            </a:r>
            <a:br/>
            <a:r>
              <a:rPr sz="28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(optional)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990850" y="5497830"/>
            <a:ext cx="352425" cy="0"/>
          </a:xfrm>
          <a:prstGeom prst="line">
            <a:avLst/>
          </a:prstGeom>
          <a:ln w="28575">
            <a:solidFill>
              <a:srgbClr val="0F766E"/>
            </a:solidFill>
            <a:prstDash val="dash"/>
            <a:head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>
            <a:off x="5419725" y="5497830"/>
            <a:ext cx="352425" cy="0"/>
          </a:xfrm>
          <a:prstGeom prst="line">
            <a:avLst/>
          </a:prstGeom>
          <a:ln w="28575">
            <a:solidFill>
              <a:srgbClr val="0F766E"/>
            </a:solidFill>
            <a:prstDash val="dash"/>
            <a:tailEnd type="triangle" w="med" len="med"/>
          </a:ln>
        </p:spPr>
      </p:cxnSp>
      <p:sp>
        <p:nvSpPr>
          <p:cNvPr id="42" name="Document 41"/>
          <p:cNvSpPr/>
          <p:nvPr/>
        </p:nvSpPr>
        <p:spPr>
          <a:xfrm>
            <a:off x="2571750" y="8099108"/>
            <a:ext cx="2095500" cy="952500"/>
          </a:xfrm>
          <a:prstGeom prst="flowChartDocument">
            <a:avLst/>
          </a:prstGeom>
          <a:solidFill>
            <a:srgbClr val="FFFFFF"/>
          </a:solidFill>
          <a:ln w="28575">
            <a:solidFill>
              <a:srgbClr val="111827"/>
            </a:solidFill>
          </a:ln>
        </p:spPr>
        <p:txBody>
          <a:bodyPr rtlCol="0" anchor="ctr" wrap="square" lIns="0" tIns="0" rIns="0" b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10250" y="8082915"/>
            <a:ext cx="2190750" cy="984885"/>
          </a:xfrm>
          <a:prstGeom prst="roundRect">
            <a:avLst>
              <a:gd name="adj" fmla="val 15473"/>
            </a:avLst>
          </a:prstGeom>
          <a:solidFill>
            <a:srgbClr val="FFFFFF"/>
          </a:solidFill>
          <a:ln w="28575">
            <a:solidFill>
              <a:srgbClr val="0F766E"/>
            </a:solidFill>
          </a:ln>
        </p:spPr>
        <p:txBody>
          <a:bodyPr rtlCol="0" anchor="ctr" wrap="square" lIns="0" tIns="76200" rIns="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outside</a:t>
            </a:r>
            <a:br/>
            <a:r>
              <a:rPr sz="28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verifier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857375" y="6450330"/>
            <a:ext cx="1762125" cy="1610678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  <p:cxnSp>
        <p:nvCxnSpPr>
          <p:cNvPr id="45" name="Connector 44"/>
          <p:cNvCxnSpPr/>
          <p:nvPr/>
        </p:nvCxnSpPr>
        <p:spPr>
          <a:xfrm flipH="1">
            <a:off x="4381500" y="6450330"/>
            <a:ext cx="2524125" cy="1610678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  <p:cxnSp>
        <p:nvCxnSpPr>
          <p:cNvPr id="46" name="Connector 45"/>
          <p:cNvCxnSpPr/>
          <p:nvPr/>
        </p:nvCxnSpPr>
        <p:spPr>
          <a:xfrm>
            <a:off x="4724400" y="8518208"/>
            <a:ext cx="1028700" cy="0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16764000" cy="701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each check shows, and what it doesn't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9125" y="9337358"/>
            <a:ext cx="17049750" cy="4162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“No reputation score anywhere. You get a map of what was checked, and the gaps are named.”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253490"/>
            <a:ext cx="3821581" cy="587692"/>
          </a:xfrm>
          <a:prstGeom prst="rect">
            <a:avLst/>
          </a:prstGeom>
          <a:solidFill>
            <a:srgbClr val="F3F4F6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3581" y="1253490"/>
            <a:ext cx="3464900" cy="587692"/>
          </a:xfrm>
          <a:prstGeom prst="rect">
            <a:avLst/>
          </a:prstGeom>
          <a:solidFill>
            <a:srgbClr val="F3F4F6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8480" y="1253490"/>
            <a:ext cx="4534942" cy="587692"/>
          </a:xfrm>
          <a:prstGeom prst="rect">
            <a:avLst/>
          </a:prstGeom>
          <a:solidFill>
            <a:srgbClr val="1D4ED8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83422" y="1253490"/>
            <a:ext cx="4942578" cy="587692"/>
          </a:xfrm>
          <a:prstGeom prst="rect">
            <a:avLst/>
          </a:prstGeom>
          <a:solidFill>
            <a:srgbClr val="B45309"/>
          </a:solidFill>
          <a:ln w="28575">
            <a:solidFill>
              <a:srgbClr val="9CA3AF"/>
            </a:solidFill>
          </a:ln>
        </p:spPr>
        <p:txBody>
          <a:bodyPr rtlCol="0" anchor="ctr" wrap="square" lIns="1905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Does not show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841182"/>
            <a:ext cx="3821581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Who sent this, and was it changed?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83581" y="1841182"/>
            <a:ext cx="3464900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Signed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480" y="1841182"/>
            <a:ext cx="4534942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who signed; unchanged since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83422" y="1841182"/>
            <a:ext cx="4942578" cy="965835"/>
          </a:xfrm>
          <a:prstGeom prst="rect">
            <a:avLst/>
          </a:prstGeom>
          <a:solidFill>
            <a:srgbClr val="FFF7ED"/>
          </a:solidFill>
          <a:ln w="28575">
            <a:solidFill>
              <a:srgbClr val="9CA3AF"/>
            </a:solidFill>
          </a:ln>
        </p:spPr>
        <p:txBody>
          <a:bodyPr rtlCol="0" anchor="ctr" wrap="square" lIns="1905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that the content is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807018"/>
            <a:ext cx="3821581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Was it there at the time?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83581" y="2807018"/>
            <a:ext cx="3464900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8480" y="2807018"/>
            <a:ext cx="4534942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 the log by time T, in order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83422" y="2807018"/>
            <a:ext cx="4942578" cy="965835"/>
          </a:xfrm>
          <a:prstGeom prst="rect">
            <a:avLst/>
          </a:prstGeom>
          <a:solidFill>
            <a:srgbClr val="FFF7ED"/>
          </a:solidFill>
          <a:ln w="28575">
            <a:solidFill>
              <a:srgbClr val="9CA3AF"/>
            </a:solidFill>
          </a:ln>
        </p:spPr>
        <p:txBody>
          <a:bodyPr rtlCol="0" anchor="ctr" wrap="square" lIns="1905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that everything was logged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3772852"/>
            <a:ext cx="3821581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Did we both see the same exchange?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83581" y="3772852"/>
            <a:ext cx="3464900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Both sides match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8480" y="3772852"/>
            <a:ext cx="4534942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same request and answer, cited both ways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583422" y="3772852"/>
            <a:ext cx="4942578" cy="965835"/>
          </a:xfrm>
          <a:prstGeom prst="rect">
            <a:avLst/>
          </a:prstGeom>
          <a:solidFill>
            <a:srgbClr val="FFF7ED"/>
          </a:solidFill>
          <a:ln w="28575">
            <a:solidFill>
              <a:srgbClr val="9CA3AF"/>
            </a:solidFill>
          </a:ln>
        </p:spPr>
        <p:txBody>
          <a:bodyPr rtlCol="0" anchor="ctr" wrap="square" lIns="1905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which side is right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4738687"/>
            <a:ext cx="3821581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Was the claimed model served?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83581" y="4738687"/>
            <a:ext cx="3464900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Second node + referee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8480" y="4738687"/>
            <a:ext cx="4534942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signed ruling on one client-marked pair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583422" y="4738687"/>
            <a:ext cx="4942578" cy="965835"/>
          </a:xfrm>
          <a:prstGeom prst="rect">
            <a:avLst/>
          </a:prstGeom>
          <a:solidFill>
            <a:srgbClr val="FFF7ED"/>
          </a:solidFill>
          <a:ln w="28575">
            <a:solidFill>
              <a:srgbClr val="9CA3AF"/>
            </a:solidFill>
          </a:ln>
        </p:spPr>
        <p:txBody>
          <a:bodyPr rtlCol="0" anchor="ctr" wrap="square" lIns="1905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every request; the referee is off by default today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5704522"/>
            <a:ext cx="3821581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actually ran?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83581" y="5704522"/>
            <a:ext cx="3464900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Hardware attestation (next)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8480" y="5704522"/>
            <a:ext cx="4534942" cy="965835"/>
          </a:xfrm>
          <a:prstGeom prst="rect">
            <a:avLst/>
          </a:prstGeom>
          <a:solidFill>
            <a:srgbClr val="FFFFFF"/>
          </a:solidFill>
          <a:ln w="28575">
            <a:solidFill>
              <a:srgbClr val="9CA3AF"/>
            </a:solidFill>
          </a:ln>
        </p:spPr>
        <p:txBody>
          <a:bodyPr rtlCol="0" anchor="ctr" wrap="square" lIns="1143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measured runtime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583422" y="5704522"/>
            <a:ext cx="4942578" cy="965835"/>
          </a:xfrm>
          <a:prstGeom prst="rect">
            <a:avLst/>
          </a:prstGeom>
          <a:solidFill>
            <a:srgbClr val="FFF7ED"/>
          </a:solidFill>
          <a:ln w="28575">
            <a:solidFill>
              <a:srgbClr val="9CA3AF"/>
            </a:solidFill>
          </a:ln>
        </p:spPr>
        <p:txBody>
          <a:bodyPr rtlCol="0" anchor="ctr" wrap="square" lIns="190500" tIns="66675" rIns="114300" bIns="66675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more than the quote covers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583422" y="1253490"/>
            <a:ext cx="66675" cy="5416867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059390" y="6841808"/>
            <a:ext cx="546661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28575">
            <a:solidFill>
              <a:srgbClr val="0F766E"/>
            </a:solidFill>
          </a:ln>
        </p:spPr>
        <p:txBody>
          <a:bodyPr rtlCol="0" anchor="ctr" wrap="square" lIns="133350" tIns="57150" rIns="133350" bIns="571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What keeps everyone honest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each side's own signed 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the other side's copy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an outside witness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a referee neither side picked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62000" y="6898958"/>
            <a:ext cx="952500" cy="301942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866900" y="6841808"/>
            <a:ext cx="9963890" cy="4162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D4ED8"/>
                </a:solidFill>
                <a:latin typeface="Arial"/>
                <a:ea typeface="Arial"/>
                <a:cs typeface="Arial"/>
              </a:rPr>
              <a:t>builds a history per peer (counts, never a score)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7563802"/>
            <a:ext cx="11068790" cy="16211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75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Go deeper: </a:t>
            </a:r>
            <a:r>
              <a:rPr sz="277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agentactioncapsule.org ·</a:t>
            </a:r>
            <a:br/>
            <a:r>
              <a:rPr sz="277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datatracker.ietf.org/doc/search?name=draft-mih (AAC, checkpointed</a:t>
            </a:r>
            <a:br/>
            <a:r>
              <a:rPr sz="277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log, bilateral, evidence layer; individual Internet-Drafts) · SCITT,</a:t>
            </a:r>
            <a:br/>
            <a:r>
              <a:rPr sz="277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RFC 9943 · github.com/Mesh-LLM/capsules (evidence plugin)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